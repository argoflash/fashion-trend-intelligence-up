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8fe18fce934c1e" /><Relationship Type="http://schemas.openxmlformats.org/officeDocument/2006/relationships/extended-properties" Target="/docProps/app.xml" Id="R9d01c9d756004694" /><Relationship Type="http://schemas.openxmlformats.org/officeDocument/2006/relationships/officeDocument" Target="/ppt/presentation.xml" Id="R2239680295cc4c8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660b3e7c1f640a7"/>
  </p:sldMasterIdLst>
  <p:notesMasterIdLst>
    <p:notesMasterId xmlns:r="http://schemas.openxmlformats.org/officeDocument/2006/relationships" r:id="Rae9274ced53a4fc8"/>
  </p:notesMasterIdLst>
  <p:sldIdLst>
    <p:sldId xmlns:r="http://schemas.openxmlformats.org/officeDocument/2006/relationships" id="256" r:id="Rced0eb24945244b9"/>
    <p:sldId xmlns:r="http://schemas.openxmlformats.org/officeDocument/2006/relationships" id="257" r:id="Re86b0586efe5489f"/>
    <p:sldId xmlns:r="http://schemas.openxmlformats.org/officeDocument/2006/relationships" id="258" r:id="R5377e300639449e2"/>
    <p:sldId xmlns:r="http://schemas.openxmlformats.org/officeDocument/2006/relationships" id="259" r:id="Rbbafa5ea4eec417a"/>
    <p:sldId xmlns:r="http://schemas.openxmlformats.org/officeDocument/2006/relationships" id="260" r:id="Rf8813c3935c346bc"/>
    <p:sldId xmlns:r="http://schemas.openxmlformats.org/officeDocument/2006/relationships" id="261" r:id="R613b67a9dc2a436a"/>
    <p:sldId xmlns:r="http://schemas.openxmlformats.org/officeDocument/2006/relationships" id="262" r:id="Re36682297ff543b7"/>
    <p:sldId xmlns:r="http://schemas.openxmlformats.org/officeDocument/2006/relationships" id="263" r:id="R72992ce954b442aa"/>
  </p:sldIdLst>
  <p:sldSz cx="9144000" cy="5143500"/>
  <p:notesSz cx="6858000" cy="9144000"/>
  <p:embeddedFontLst>
    <p:embeddedFont>
      <p:font typeface="Montserrat"/>
      <p:regular xmlns:r="http://schemas.openxmlformats.org/officeDocument/2006/relationships" r:id="R5b8554487c394ddf"/>
      <p:bold xmlns:r="http://schemas.openxmlformats.org/officeDocument/2006/relationships" r:id="Rc6f82d1a400e48e0"/>
      <p:italic xmlns:r="http://schemas.openxmlformats.org/officeDocument/2006/relationships" r:id="R8a4c2c7315e84194"/>
      <p:boldItalic xmlns:r="http://schemas.openxmlformats.org/officeDocument/2006/relationships" r:id="R5f2e9cf8158f4058"/>
    </p:embeddedFont>
    <p:embeddedFont>
      <p:font typeface="Lato"/>
      <p:regular xmlns:r="http://schemas.openxmlformats.org/officeDocument/2006/relationships" r:id="R759aadcf426242b8"/>
      <p:bold xmlns:r="http://schemas.openxmlformats.org/officeDocument/2006/relationships" r:id="R0d16cf1cb3c14d67"/>
      <p:italic xmlns:r="http://schemas.openxmlformats.org/officeDocument/2006/relationships" r:id="Rd8b3e60bea264b1b"/>
      <p:boldItalic xmlns:r="http://schemas.openxmlformats.org/officeDocument/2006/relationships" r:id="R68c464b259a548b4"/>
    </p:embeddedFont>
    <p:embeddedFont>
      <p:font typeface="Inter"/>
      <p:regular xmlns:r="http://schemas.openxmlformats.org/officeDocument/2006/relationships" r:id="R0b527c36631c4a6b"/>
      <p:bold xmlns:r="http://schemas.openxmlformats.org/officeDocument/2006/relationships" r:id="R73190ec4154d42a8"/>
      <p:italic xmlns:r="http://schemas.openxmlformats.org/officeDocument/2006/relationships" r:id="R011e4e5bd8434024"/>
      <p:boldItalic xmlns:r="http://schemas.openxmlformats.org/officeDocument/2006/relationships" r:id="Rf90376b6a2774dc9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2973cf08e54bd7" /><Relationship Type="http://schemas.openxmlformats.org/officeDocument/2006/relationships/slideMaster" Target="/ppt/slideMasters/slideMaster1.xml" Id="Ra660b3e7c1f640a7" /><Relationship Type="http://schemas.openxmlformats.org/officeDocument/2006/relationships/notesMaster" Target="/ppt/notesMasters/notesMaster1.xml" Id="Rae9274ced53a4fc8" /><Relationship Type="http://schemas.openxmlformats.org/officeDocument/2006/relationships/presProps" Target="/ppt/presProps.xml" Id="Re30e15e42b10443c" /><Relationship Type="http://schemas.openxmlformats.org/officeDocument/2006/relationships/viewProps" Target="/ppt/viewProps.xml" Id="Ra43094bd26df4724" /><Relationship Type="http://schemas.openxmlformats.org/officeDocument/2006/relationships/tableStyles" Target="/ppt/tableStyles.xml" Id="Ra84376a5da5546d2" /><Relationship Type="http://schemas.openxmlformats.org/officeDocument/2006/relationships/font" Target="/ppt/fonts/font.dat" Id="R5b8554487c394ddf" /><Relationship Type="http://schemas.openxmlformats.org/officeDocument/2006/relationships/font" Target="/ppt/fonts/font2.dat" Id="Rc6f82d1a400e48e0" /><Relationship Type="http://schemas.openxmlformats.org/officeDocument/2006/relationships/font" Target="/ppt/fonts/font3.dat" Id="R8a4c2c7315e84194" /><Relationship Type="http://schemas.openxmlformats.org/officeDocument/2006/relationships/font" Target="/ppt/fonts/font4.dat" Id="R5f2e9cf8158f4058" /><Relationship Type="http://schemas.openxmlformats.org/officeDocument/2006/relationships/font" Target="/ppt/fonts/font5.dat" Id="R759aadcf426242b8" /><Relationship Type="http://schemas.openxmlformats.org/officeDocument/2006/relationships/font" Target="/ppt/fonts/font6.dat" Id="R0d16cf1cb3c14d67" /><Relationship Type="http://schemas.openxmlformats.org/officeDocument/2006/relationships/font" Target="/ppt/fonts/font7.dat" Id="Rd8b3e60bea264b1b" /><Relationship Type="http://schemas.openxmlformats.org/officeDocument/2006/relationships/font" Target="/ppt/fonts/font8.dat" Id="R68c464b259a548b4" /><Relationship Type="http://schemas.openxmlformats.org/officeDocument/2006/relationships/font" Target="/ppt/fonts/font9.dat" Id="R0b527c36631c4a6b" /><Relationship Type="http://schemas.openxmlformats.org/officeDocument/2006/relationships/font" Target="/ppt/fonts/font10.dat" Id="R73190ec4154d42a8" /><Relationship Type="http://schemas.openxmlformats.org/officeDocument/2006/relationships/font" Target="/ppt/fonts/font11.dat" Id="R011e4e5bd8434024" /><Relationship Type="http://schemas.openxmlformats.org/officeDocument/2006/relationships/font" Target="/ppt/fonts/font12.dat" Id="Rf90376b6a2774dc9" /><Relationship Type="http://schemas.openxmlformats.org/officeDocument/2006/relationships/slide" Target="/ppt/slides/slide1.xml" Id="Rced0eb24945244b9" /><Relationship Type="http://schemas.openxmlformats.org/officeDocument/2006/relationships/slide" Target="/ppt/slides/slide2.xml" Id="Re86b0586efe5489f" /><Relationship Type="http://schemas.openxmlformats.org/officeDocument/2006/relationships/slide" Target="/ppt/slides/slide3.xml" Id="R5377e300639449e2" /><Relationship Type="http://schemas.openxmlformats.org/officeDocument/2006/relationships/slide" Target="/ppt/slides/slide4.xml" Id="Rbbafa5ea4eec417a" /><Relationship Type="http://schemas.openxmlformats.org/officeDocument/2006/relationships/slide" Target="/ppt/slides/slide5.xml" Id="Rf8813c3935c346bc" /><Relationship Type="http://schemas.openxmlformats.org/officeDocument/2006/relationships/slide" Target="/ppt/slides/slide6.xml" Id="R613b67a9dc2a436a" /><Relationship Type="http://schemas.openxmlformats.org/officeDocument/2006/relationships/slide" Target="/ppt/slides/slide7.xml" Id="Re36682297ff543b7" /><Relationship Type="http://schemas.openxmlformats.org/officeDocument/2006/relationships/slide" Target="/ppt/slides/slide8.xml" Id="R72992ce954b442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28a6bc7c9e41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c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356867662f44ec" /><Relationship Type="http://schemas.openxmlformats.org/officeDocument/2006/relationships/notesMaster" Target="/ppt/notesMasters/notesMaster1.xml" Id="R6fb90697a0024d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28078192ff4869" /><Relationship Type="http://schemas.openxmlformats.org/officeDocument/2006/relationships/notesMaster" Target="/ppt/notesMasters/notesMaster1.xml" Id="R3251fbe6417547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415fb516604f89" /><Relationship Type="http://schemas.openxmlformats.org/officeDocument/2006/relationships/notesMaster" Target="/ppt/notesMasters/notesMaster1.xml" Id="Rb6cdec6442a44a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ace4e8cd7945b1" /><Relationship Type="http://schemas.openxmlformats.org/officeDocument/2006/relationships/notesMaster" Target="/ppt/notesMasters/notesMaster1.xml" Id="Rc94dae94fc6248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31d789e508449e" /><Relationship Type="http://schemas.openxmlformats.org/officeDocument/2006/relationships/notesMaster" Target="/ppt/notesMasters/notesMaster1.xml" Id="Rc5b07ababc8947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63fb68267f4b0c" /><Relationship Type="http://schemas.openxmlformats.org/officeDocument/2006/relationships/notesMaster" Target="/ppt/notesMasters/notesMaster1.xml" Id="Rc2cac8de59a449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8102998b3a4a54" /><Relationship Type="http://schemas.openxmlformats.org/officeDocument/2006/relationships/notesMaster" Target="/ppt/notesMasters/notesMaster1.xml" Id="R8a70468b367d4d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c77586b62c4682" /><Relationship Type="http://schemas.openxmlformats.org/officeDocument/2006/relationships/notesMaster" Target="/ppt/notesMasters/notesMaster1.xml" Id="Rae17ae24e0964c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État au 20/10/2026. Source du projet : OpenClassrooms, exercice Requêtez des services IA. Aucun résultat du modèle inventé.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https://huggingface.co/sayeed99/segformer_b3_clothes ; https://huggingface.co/docs/inference-providers/tasks/image-segmentation ; https://huggingface.co/docs/inference-providers/pricing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État au 20/10/2026. Source du projet : OpenClassrooms, exercice Requêtez des services IA. Aucun résultat du modèle inventé.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https://huggingface.co/sayeed99/segformer_b3_clothes ; https://huggingface.co/docs/inference-providers/tasks/image-segmentation ; https://huggingface.co/docs/inference-providers/pricing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État au 20/10/2026. Source du projet : OpenClassrooms, exercice Requêtez des services IA. Aucun résultat du modèle inventé.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https://huggingface.co/sayeed99/segformer_b3_clothes ; https://huggingface.co/docs/inference-providers/tasks/image-segmentation ; https://huggingface.co/docs/inference-providers/pricing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État au 20/10/2026. Source du projet : OpenClassrooms, exercice Requêtez des services IA. Aucun résultat du modèle inventé.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https://huggingface.co/sayeed99/segformer_b3_clothes ; https://huggingface.co/docs/inference-providers/tasks/image-segmentation ; https://huggingface.co/docs/inference-providers/pricing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Formule : N × secondes de calcul / 3600 × USD/h × 1,05. Aucun tarif SegFormer exact observé. 0,50 USD/h est une hypothèse, pas une offre Hugging Face. Un endpoint dédié toujours actif coûterait 720 × 0,50 = 360 USD sous la même hypothèse. Les tarifs serverless et dédiés ne sont pas interchangeables. Source : https://huggingface.co/docs/inference-providers/pricing (20/10/2026).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État au 20/10/2026. Source du projet : OpenClassrooms, exercice Requêtez des services IA. Aucun résultat du modèle inventé.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https://huggingface.co/sayeed99/segformer_b3_clothes ; https://huggingface.co/docs/inference-providers/tasks/image-segmentation ; https://huggingface.co/docs/inference-providers/pricing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État au 20/10/2026. Source du projet : OpenClassrooms, exercice Requêtez des services IA. Aucun résultat du modèle inventé.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https://huggingface.co/sayeed99/segformer_b3_clothes ; https://huggingface.co/docs/inference-providers/tasks/image-segmentation ; https://huggingface.co/docs/inference-providers/pricing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42b3f8f8342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b7a00627944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82290de0f4d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42c54167346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fe390873646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ac849431b463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4bf7b257949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58e8cf385411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80d0aeb73436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81ea3ae524ae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40f61d66c449b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EEF78DBC-5430-4FEF-8CED-42224DEB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00300" y="505"/>
            <a:ext cx="1643700" cy="1643700"/>
          </a:xfrm>
          <a:prstGeom xmlns:a="http://schemas.openxmlformats.org/drawingml/2006/main" prst="diagStripe">
            <a:avLst>
              <a:gd name="adj" fmla="val 0"/>
            </a:avLst>
          </a:prstGeom>
          <a:solidFill xmlns:a="http://schemas.openxmlformats.org/drawingml/2006/main">
            <a:schemeClr val="lt1">
              <a:alpha val="303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CD68454A-4CC4-4A0E-896C-E77D4D26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455" y="192"/>
            <a:ext cx="5152800" cy="5135146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303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9600C627-CB19-45C5-A01B-1D2AFADA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50" y="1142115"/>
            <a:ext cx="3996600" cy="3982510"/>
          </a:xfrm>
          <a:prstGeom xmlns:a="http://schemas.openxmlformats.org/drawingml/2006/main" prst="diagStripe">
            <a:avLst>
              <a:gd name="adj" fmla="val 58774"/>
            </a:avLst>
          </a:prstGeom>
          <a:solidFill xmlns:a="http://schemas.openxmlformats.org/drawingml/2006/main">
            <a:schemeClr val="lt1">
              <a:alpha val="303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350F957A-CD4C-4781-B07E-C846DDB4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46" y="342"/>
            <a:ext cx="2299800" cy="2291819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C7CA9E47-C946-4ED7-9CF1-D87E0AFA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52821" y="588326"/>
            <a:ext cx="2300100" cy="229152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B0E781B3-2FB6-4253-885F-D1EA4CF3AE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537150" y="1578400"/>
            <a:ext cx="5017500" cy="157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9C57AA7B-FDFA-445E-9291-FC2DFA19F7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083950" y="3924925"/>
            <a:ext cx="3470700" cy="50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 xmlns:a="http://schemas.openxmlformats.org/drawingml/2006/main"/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32BF5E99-C73A-496F-967E-4B87D9DDFA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E5AF6553-7167-45B1-8704-EF272E4E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408200" y="-1800"/>
            <a:ext cx="4734000" cy="4737600"/>
          </a:xfrm>
          <a:prstGeom xmlns:a="http://schemas.openxmlformats.org/drawingml/2006/main" prst="diagStripe">
            <a:avLst>
              <a:gd name="adj" fmla="val 49469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4722FABD-FB60-4888-B008-EF3DE79D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841125" y="5700"/>
            <a:ext cx="4298100" cy="4286700"/>
          </a:xfrm>
          <a:prstGeom xmlns:a="http://schemas.openxmlformats.org/drawingml/2006/main" prst="diagStripe">
            <a:avLst>
              <a:gd name="adj" fmla="val 0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660DFF3C-76F9-4789-9F35-AB748B42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618399" y="123646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F7847713-CDC1-4537-B9FA-3DF8790A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849857" y="1443956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AECD5417-CBD3-4804-90D3-83AB5C88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987081" y="246946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435BA201-0A81-4272-9E9F-7CA56442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222115" y="267695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B5790B53-E35D-463B-AE23-C45332EC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675341" y="186201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FF0D39A2-4A61-4269-87B2-7AE2A806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908099" y="206950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4A9DD43F-84E2-4B07-8ED9-FC790BEE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861141" y="247781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>
            <a:extLst xmlns:a="http://schemas.openxmlformats.org/drawingml/2006/main">
              <a:ext uri="{FF2B5EF4-FFF2-40B4-BE49-F238E27FC236}">
                <a16:creationId xmlns:a16="http://schemas.microsoft.com/office/drawing/2014/main" id="{333C7634-E87C-4A17-A761-55ED3F14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65266" y="269296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>
            <a:extLst xmlns:a="http://schemas.openxmlformats.org/drawingml/2006/main">
              <a:ext uri="{FF2B5EF4-FFF2-40B4-BE49-F238E27FC236}">
                <a16:creationId xmlns:a16="http://schemas.microsoft.com/office/drawing/2014/main" id="{7FDFF815-1EB0-487D-806F-66B1A076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145082" y="330875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>
            <a:extLst xmlns:a="http://schemas.openxmlformats.org/drawingml/2006/main">
              <a:ext uri="{FF2B5EF4-FFF2-40B4-BE49-F238E27FC236}">
                <a16:creationId xmlns:a16="http://schemas.microsoft.com/office/drawing/2014/main" id="{B7D00F57-CB52-4C8A-A16C-8C8465D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047599" y="309501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>
            <a:extLst xmlns:a="http://schemas.openxmlformats.org/drawingml/2006/main">
              <a:ext uri="{FF2B5EF4-FFF2-40B4-BE49-F238E27FC236}">
                <a16:creationId xmlns:a16="http://schemas.microsoft.com/office/drawing/2014/main" id="{44401F2F-0562-41A4-8773-AA101E4D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276649" y="3302502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>
            <a:extLst xmlns:a="http://schemas.openxmlformats.org/drawingml/2006/main">
              <a:ext uri="{FF2B5EF4-FFF2-40B4-BE49-F238E27FC236}">
                <a16:creationId xmlns:a16="http://schemas.microsoft.com/office/drawing/2014/main" id="{675D36ED-4AF9-4609-983C-5F0C090A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227414" y="3710807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>
            <a:extLst xmlns:a="http://schemas.openxmlformats.org/drawingml/2006/main">
              <a:ext uri="{FF2B5EF4-FFF2-40B4-BE49-F238E27FC236}">
                <a16:creationId xmlns:a16="http://schemas.microsoft.com/office/drawing/2014/main" id="{53E12A36-D0AD-45E3-9EEE-BFB6C2D5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62448" y="3918294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>
            <a:extLst xmlns:a="http://schemas.openxmlformats.org/drawingml/2006/main">
              <a:ext uri="{FF2B5EF4-FFF2-40B4-BE49-F238E27FC236}">
                <a16:creationId xmlns:a16="http://schemas.microsoft.com/office/drawing/2014/main" id="{36F71BF4-B480-4408-A809-7DC2B63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102491" y="371847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>
            <a:extLst xmlns:a="http://schemas.openxmlformats.org/drawingml/2006/main">
              <a:ext uri="{FF2B5EF4-FFF2-40B4-BE49-F238E27FC236}">
                <a16:creationId xmlns:a16="http://schemas.microsoft.com/office/drawing/2014/main" id="{A4B88176-A340-4B19-9574-39F52FAA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334533" y="392596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>
            <a:extLst xmlns:a="http://schemas.openxmlformats.org/drawingml/2006/main">
              <a:ext uri="{FF2B5EF4-FFF2-40B4-BE49-F238E27FC236}">
                <a16:creationId xmlns:a16="http://schemas.microsoft.com/office/drawing/2014/main" id="{4B08D966-6D43-41EF-9951-BA5A4302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288290" y="433426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>
            <a:extLst xmlns:a="http://schemas.openxmlformats.org/drawingml/2006/main">
              <a:ext uri="{FF2B5EF4-FFF2-40B4-BE49-F238E27FC236}">
                <a16:creationId xmlns:a16="http://schemas.microsoft.com/office/drawing/2014/main" id="{D84EDC51-2E72-46F0-B7A9-AC92756DE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3850" y="2053000"/>
            <a:ext cx="4587000" cy="114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40" name="Google Shape;40;p3">
            <a:extLst xmlns:a="http://schemas.openxmlformats.org/drawingml/2006/main">
              <a:ext uri="{FF2B5EF4-FFF2-40B4-BE49-F238E27FC236}">
                <a16:creationId xmlns:a16="http://schemas.microsoft.com/office/drawing/2014/main" id="{B841B705-BBA0-482B-A435-9FB85E6009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EAA28DFC-1D2E-4D86-A258-4505DC1F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38100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A935A640-FE2E-4348-A5F2-B1DD6FFA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9050" y="5884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243A1754-BFC5-4ECB-AC62-BFC9F9649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40062B01-2169-4F42-A023-6C1BC4A490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567550"/>
            <a:ext cx="70389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36650A81-2773-4ABC-A271-7B312C4AE5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0D28E58A-1F97-4C94-BD1D-2D231FD5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38100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E404DE39-71CE-444B-A435-0FED6F3E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9050" y="5884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12D2A14D-C25A-4A78-82DF-2565EAECD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0C1DD7F4-42F7-461B-8741-677D21D2EA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567550"/>
            <a:ext cx="34032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6083FC38-929F-4786-A8A1-39F436765B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3221" y="1567550"/>
            <a:ext cx="34032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BA33A306-9A1D-4CAC-AFD0-8F51771ADB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194886D5-E9D9-4802-A20E-D1397A22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38100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EC437C73-B427-43FA-A184-76104EC8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9050" y="5884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77506E82-F5A7-4AB1-B40C-BD136C694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D0460FF1-E187-41A0-B907-D0137F61D0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6674305-2993-4194-805F-EB914366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38100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2AD78B5E-049D-49A8-A6E7-3579F20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9050" y="5884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B83D282C-9DA7-4B45-9A3F-7277CFF45A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3798900" cy="149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4FBEA702-514C-431B-BC76-0AC245268A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972550"/>
            <a:ext cx="3798900" cy="241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F2E1D370-B869-4B67-8B61-A1DA097855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8">
            <a:extLst xmlns:a="http://schemas.openxmlformats.org/drawingml/2006/main">
              <a:ext uri="{FF2B5EF4-FFF2-40B4-BE49-F238E27FC236}">
                <a16:creationId xmlns:a16="http://schemas.microsoft.com/office/drawing/2014/main" id="{DB2D2374-8162-45C6-9A93-449C8D1D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407900" y="-1500"/>
            <a:ext cx="4734600" cy="4737600"/>
          </a:xfrm>
          <a:prstGeom xmlns:a="http://schemas.openxmlformats.org/drawingml/2006/main" prst="diagStripe">
            <a:avLst>
              <a:gd name="adj" fmla="val 49469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>
            <a:extLst xmlns:a="http://schemas.openxmlformats.org/drawingml/2006/main">
              <a:ext uri="{FF2B5EF4-FFF2-40B4-BE49-F238E27FC236}">
                <a16:creationId xmlns:a16="http://schemas.microsoft.com/office/drawing/2014/main" id="{906591C4-2CEA-4C9F-9E7F-2DBCE2F6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840825" y="6000"/>
            <a:ext cx="4298700" cy="4286700"/>
          </a:xfrm>
          <a:prstGeom xmlns:a="http://schemas.openxmlformats.org/drawingml/2006/main" prst="diagStripe">
            <a:avLst>
              <a:gd name="adj" fmla="val 0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>
            <a:extLst xmlns:a="http://schemas.openxmlformats.org/drawingml/2006/main">
              <a:ext uri="{FF2B5EF4-FFF2-40B4-BE49-F238E27FC236}">
                <a16:creationId xmlns:a16="http://schemas.microsoft.com/office/drawing/2014/main" id="{C1B5DEF3-53C5-4D73-A181-FC1D12A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618399" y="123664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>
            <a:extLst xmlns:a="http://schemas.openxmlformats.org/drawingml/2006/main">
              <a:ext uri="{FF2B5EF4-FFF2-40B4-BE49-F238E27FC236}">
                <a16:creationId xmlns:a16="http://schemas.microsoft.com/office/drawing/2014/main" id="{224566CF-EA13-4A37-A41A-F2EDB734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849857" y="144407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011A7365-4FF0-426C-946C-64DED065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987081" y="246974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6A73337B-5FEB-458A-B7FE-294510B9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222115" y="267717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2CA12533-1DD1-46B7-9DF4-6841A631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675341" y="1862244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D76080DD-0100-44A2-B347-B2F795AF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908099" y="206968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85693E8B-B256-4C1F-BEE7-85487E69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861141" y="247808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968B1BEF-8B74-46B4-8CDB-20DBBA57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65266" y="269319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13ECB95B-0651-4C33-A498-20168F37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145082" y="3309036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>
            <a:extLst xmlns:a="http://schemas.openxmlformats.org/drawingml/2006/main">
              <a:ext uri="{FF2B5EF4-FFF2-40B4-BE49-F238E27FC236}">
                <a16:creationId xmlns:a16="http://schemas.microsoft.com/office/drawing/2014/main" id="{1FCB9362-FE73-4CC2-A475-8FA7DEC8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047599" y="309534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>
            <a:extLst xmlns:a="http://schemas.openxmlformats.org/drawingml/2006/main">
              <a:ext uri="{FF2B5EF4-FFF2-40B4-BE49-F238E27FC236}">
                <a16:creationId xmlns:a16="http://schemas.microsoft.com/office/drawing/2014/main" id="{3CC3A656-E45D-4405-A91D-165C1F3D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276649" y="330278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>
            <a:extLst xmlns:a="http://schemas.openxmlformats.org/drawingml/2006/main">
              <a:ext uri="{FF2B5EF4-FFF2-40B4-BE49-F238E27FC236}">
                <a16:creationId xmlns:a16="http://schemas.microsoft.com/office/drawing/2014/main" id="{CC3D59E6-1330-48EA-AC51-4086658D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227414" y="37111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>
            <a:extLst xmlns:a="http://schemas.openxmlformats.org/drawingml/2006/main">
              <a:ext uri="{FF2B5EF4-FFF2-40B4-BE49-F238E27FC236}">
                <a16:creationId xmlns:a16="http://schemas.microsoft.com/office/drawing/2014/main" id="{5BE50ADB-481B-47F7-BBFD-7CACDE3D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62448" y="391862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>
            <a:extLst xmlns:a="http://schemas.openxmlformats.org/drawingml/2006/main">
              <a:ext uri="{FF2B5EF4-FFF2-40B4-BE49-F238E27FC236}">
                <a16:creationId xmlns:a16="http://schemas.microsoft.com/office/drawing/2014/main" id="{8FBF4D16-EB49-4C90-A862-67AD06A5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102491" y="3718856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C5CC5B34-A866-478E-B0AA-77EAC979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334533" y="3926292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500589DF-7E43-43DF-B2E9-C9EBECC3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288290" y="433470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6B798EEC-8A8A-49A8-9691-98E4B5A60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3850" y="866775"/>
            <a:ext cx="4587000" cy="352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0B29FA6B-72D8-49C9-B2EA-D58FA74924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C50E49DB-C2AB-441D-ADEF-1FADA716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38100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">
            <a:extLst xmlns:a="http://schemas.openxmlformats.org/drawingml/2006/main">
              <a:ext uri="{FF2B5EF4-FFF2-40B4-BE49-F238E27FC236}">
                <a16:creationId xmlns:a16="http://schemas.microsoft.com/office/drawing/2014/main" id="{80ACD1D3-9235-425A-91A0-877A77D0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9050" y="5884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>
            <a:extLst xmlns:a="http://schemas.openxmlformats.org/drawingml/2006/main">
              <a:ext uri="{FF2B5EF4-FFF2-40B4-BE49-F238E27FC236}">
                <a16:creationId xmlns:a16="http://schemas.microsoft.com/office/drawing/2014/main" id="{2BBB308A-22B3-4D57-B9FA-CC3C74E3A2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1658325"/>
            <a:ext cx="3036300" cy="175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96" name="Google Shape;96;p9">
            <a:extLst xmlns:a="http://schemas.openxmlformats.org/drawingml/2006/main">
              <a:ext uri="{FF2B5EF4-FFF2-40B4-BE49-F238E27FC236}">
                <a16:creationId xmlns:a16="http://schemas.microsoft.com/office/drawing/2014/main" id="{E416DA1E-8890-4178-BBF0-BB8CF2B9D0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97500" y="3538000"/>
            <a:ext cx="3036300" cy="50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 xmlns:a="http://schemas.openxmlformats.org/drawingml/2006/main"/>
        </p:txBody>
      </p:sp>
      <p:sp>
        <p:nvSpPr>
          <p:cNvPr id="97" name="Google Shape;97;p9">
            <a:extLst xmlns:a="http://schemas.openxmlformats.org/drawingml/2006/main">
              <a:ext uri="{FF2B5EF4-FFF2-40B4-BE49-F238E27FC236}">
                <a16:creationId xmlns:a16="http://schemas.microsoft.com/office/drawing/2014/main" id="{DD89BABC-7AC7-46C3-B50B-A0A9E9D093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96600"/>
            <a:ext cx="3676800" cy="234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8" name="Google Shape;98;p9">
            <a:extLst xmlns:a="http://schemas.openxmlformats.org/drawingml/2006/main">
              <a:ext uri="{FF2B5EF4-FFF2-40B4-BE49-F238E27FC236}">
                <a16:creationId xmlns:a16="http://schemas.microsoft.com/office/drawing/2014/main" id="{E01C0B43-1674-4671-9BAE-39E65048AB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069A234C-AF14-49D5-9B13-559B5990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4128572"/>
            <a:ext cx="544800" cy="544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962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C86395A8-054C-4C6F-BB65-BB6D0188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54125" y="4268429"/>
            <a:ext cx="544800" cy="544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962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0A8DBAB3-12FB-4681-AB5C-9F449657A8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2725" y="4305375"/>
            <a:ext cx="69360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 xmlns:a="http://schemas.openxmlformats.org/drawingml/2006/main"/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B69564D3-9A5E-481C-B773-407E297AF9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11">
            <a:extLst xmlns:a="http://schemas.openxmlformats.org/drawingml/2006/main">
              <a:ext uri="{FF2B5EF4-FFF2-40B4-BE49-F238E27FC236}">
                <a16:creationId xmlns:a16="http://schemas.microsoft.com/office/drawing/2014/main" id="{907BA070-3A0B-4B83-B7DB-A7835526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408200" y="-1800"/>
            <a:ext cx="4734000" cy="4737600"/>
          </a:xfrm>
          <a:prstGeom xmlns:a="http://schemas.openxmlformats.org/drawingml/2006/main" prst="diagStripe">
            <a:avLst>
              <a:gd name="adj" fmla="val 49469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">
            <a:extLst xmlns:a="http://schemas.openxmlformats.org/drawingml/2006/main">
              <a:ext uri="{FF2B5EF4-FFF2-40B4-BE49-F238E27FC236}">
                <a16:creationId xmlns:a16="http://schemas.microsoft.com/office/drawing/2014/main" id="{5B1712CA-8EE8-442C-B0D5-97FE76FE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841125" y="5700"/>
            <a:ext cx="4298100" cy="4286700"/>
          </a:xfrm>
          <a:prstGeom xmlns:a="http://schemas.openxmlformats.org/drawingml/2006/main" prst="diagStripe">
            <a:avLst>
              <a:gd name="adj" fmla="val 0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">
            <a:extLst xmlns:a="http://schemas.openxmlformats.org/drawingml/2006/main">
              <a:ext uri="{FF2B5EF4-FFF2-40B4-BE49-F238E27FC236}">
                <a16:creationId xmlns:a16="http://schemas.microsoft.com/office/drawing/2014/main" id="{EE8D2706-CAA5-4DE7-85D2-55B82792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618399" y="123646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>
            <a:extLst xmlns:a="http://schemas.openxmlformats.org/drawingml/2006/main">
              <a:ext uri="{FF2B5EF4-FFF2-40B4-BE49-F238E27FC236}">
                <a16:creationId xmlns:a16="http://schemas.microsoft.com/office/drawing/2014/main" id="{1BDEB69E-43B9-48BB-BDA3-5554085E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849857" y="1443956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0160BCEA-2190-4624-B66E-091D566F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987081" y="246946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FD93E583-BAA9-445A-8002-01851229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222115" y="267695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94ED7C17-7D07-4577-88D1-E45B48BA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675341" y="186201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61E93328-4D22-4614-8096-B84B4F36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908099" y="206950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071454D2-0FEA-4008-879D-EDBD812D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861141" y="247781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153EC8EF-E73D-4EDD-8D88-AD2EE72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65266" y="269296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52864E66-E57B-414C-BED0-C2744390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145082" y="330875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">
            <a:extLst xmlns:a="http://schemas.openxmlformats.org/drawingml/2006/main">
              <a:ext uri="{FF2B5EF4-FFF2-40B4-BE49-F238E27FC236}">
                <a16:creationId xmlns:a16="http://schemas.microsoft.com/office/drawing/2014/main" id="{00825A31-FA54-4BE8-BF74-ABD4A973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047599" y="309501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>
            <a:extLst xmlns:a="http://schemas.openxmlformats.org/drawingml/2006/main">
              <a:ext uri="{FF2B5EF4-FFF2-40B4-BE49-F238E27FC236}">
                <a16:creationId xmlns:a16="http://schemas.microsoft.com/office/drawing/2014/main" id="{05DF38CF-0832-493C-AFF2-182F2E3A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276649" y="3302502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>
            <a:extLst xmlns:a="http://schemas.openxmlformats.org/drawingml/2006/main">
              <a:ext uri="{FF2B5EF4-FFF2-40B4-BE49-F238E27FC236}">
                <a16:creationId xmlns:a16="http://schemas.microsoft.com/office/drawing/2014/main" id="{33DC35AD-4234-4857-A493-BB719C27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227414" y="3710807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>
            <a:extLst xmlns:a="http://schemas.openxmlformats.org/drawingml/2006/main">
              <a:ext uri="{FF2B5EF4-FFF2-40B4-BE49-F238E27FC236}">
                <a16:creationId xmlns:a16="http://schemas.microsoft.com/office/drawing/2014/main" id="{445FDE46-0421-426B-9B92-EEA8F009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62448" y="3918294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>
            <a:extLst xmlns:a="http://schemas.openxmlformats.org/drawingml/2006/main">
              <a:ext uri="{FF2B5EF4-FFF2-40B4-BE49-F238E27FC236}">
                <a16:creationId xmlns:a16="http://schemas.microsoft.com/office/drawing/2014/main" id="{146562DD-99F8-44C1-91DD-5D2691B6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102491" y="371847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">
            <a:extLst xmlns:a="http://schemas.openxmlformats.org/drawingml/2006/main">
              <a:ext uri="{FF2B5EF4-FFF2-40B4-BE49-F238E27FC236}">
                <a16:creationId xmlns:a16="http://schemas.microsoft.com/office/drawing/2014/main" id="{B895368C-D8CF-4DF9-BB22-82C606CA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334533" y="392596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">
            <a:extLst xmlns:a="http://schemas.openxmlformats.org/drawingml/2006/main">
              <a:ext uri="{FF2B5EF4-FFF2-40B4-BE49-F238E27FC236}">
                <a16:creationId xmlns:a16="http://schemas.microsoft.com/office/drawing/2014/main" id="{C204F384-CF37-4DF6-B9CF-86A6D95F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288290" y="433426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">
            <a:extLst xmlns:a="http://schemas.openxmlformats.org/drawingml/2006/main">
              <a:ext uri="{FF2B5EF4-FFF2-40B4-BE49-F238E27FC236}">
                <a16:creationId xmlns:a16="http://schemas.microsoft.com/office/drawing/2014/main" id="{E22DC8DB-5BE9-493B-B963-0D843ACD12E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23850" y="1284675"/>
            <a:ext cx="47760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26" name="Google Shape;126;p11">
            <a:extLst xmlns:a="http://schemas.openxmlformats.org/drawingml/2006/main">
              <a:ext uri="{FF2B5EF4-FFF2-40B4-BE49-F238E27FC236}">
                <a16:creationId xmlns:a16="http://schemas.microsoft.com/office/drawing/2014/main" id="{4BDD01CB-ADA3-4CA7-B235-9D46B17B48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3850" y="2643124"/>
            <a:ext cx="4776000" cy="121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27" name="Google Shape;127;p11">
            <a:extLst xmlns:a="http://schemas.openxmlformats.org/drawingml/2006/main">
              <a:ext uri="{FF2B5EF4-FFF2-40B4-BE49-F238E27FC236}">
                <a16:creationId xmlns:a16="http://schemas.microsoft.com/office/drawing/2014/main" id="{D2A4ED48-B740-4DD2-B522-6D708046CC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8CDD6D29-09E2-4A5C-A2A6-F00CEA2BA3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2959a050d044ae" /><Relationship Type="http://schemas.openxmlformats.org/officeDocument/2006/relationships/slideLayout" Target="/ppt/slideLayouts/slideLayout1.xml" Id="R9a239594e5204219" /><Relationship Type="http://schemas.openxmlformats.org/officeDocument/2006/relationships/slideLayout" Target="/ppt/slideLayouts/slideLayout2.xml" Id="R5968610cefbc402d" /><Relationship Type="http://schemas.openxmlformats.org/officeDocument/2006/relationships/slideLayout" Target="/ppt/slideLayouts/slideLayout3.xml" Id="Rc2be8fbcf7ae4825" /><Relationship Type="http://schemas.openxmlformats.org/officeDocument/2006/relationships/slideLayout" Target="/ppt/slideLayouts/slideLayout4.xml" Id="Ra195263669404639" /><Relationship Type="http://schemas.openxmlformats.org/officeDocument/2006/relationships/slideLayout" Target="/ppt/slideLayouts/slideLayout5.xml" Id="R514bab75333d4cab" /><Relationship Type="http://schemas.openxmlformats.org/officeDocument/2006/relationships/slideLayout" Target="/ppt/slideLayouts/slideLayout6.xml" Id="Rbad0c381114946db" /><Relationship Type="http://schemas.openxmlformats.org/officeDocument/2006/relationships/slideLayout" Target="/ppt/slideLayouts/slideLayout7.xml" Id="R41d88047518c4f88" /><Relationship Type="http://schemas.openxmlformats.org/officeDocument/2006/relationships/slideLayout" Target="/ppt/slideLayouts/slideLayout8.xml" Id="R1526cc23c5874ec2" /><Relationship Type="http://schemas.openxmlformats.org/officeDocument/2006/relationships/slideLayout" Target="/ppt/slideLayouts/slideLayout9.xml" Id="R0c6f6abcbfb74461" /><Relationship Type="http://schemas.openxmlformats.org/officeDocument/2006/relationships/slideLayout" Target="/ppt/slideLayouts/slideLayout10.xml" Id="R94523986aa524e76" /><Relationship Type="http://schemas.openxmlformats.org/officeDocument/2006/relationships/slideLayout" Target="/ppt/slideLayouts/slideLayout11.xml" Id="R0b7e53d39c564cb5" /></Relationships>
</file>

<file path=ppt/slideMasters/slideMaster1.xml><?xml version="1.0" encoding="utf-8"?>
<p:sldMaster xmlns:p="http://schemas.openxmlformats.org/presentationml/2006/main">
  <p:cSld name="focus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CDF151C7-194A-41C9-91AD-3637F6D1D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38D224D-3899-4D75-9D11-E1BFC1DAFE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L="914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2pPr>
            <a:lvl3pPr marL="1371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3pPr>
            <a:lvl4pPr marL="1828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4pPr>
            <a:lvl5pPr marL="22860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5pPr>
            <a:lvl6pPr marL="2743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6pPr>
            <a:lvl7pPr marL="3200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7pPr>
            <a:lvl8pPr marL="3657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8pPr>
            <a:lvl9pPr marL="4114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CEB7C9D4-6E43-41B7-8A50-3ACF491776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2pPr>
            <a:lvl3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3pPr>
            <a:lvl4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4pPr>
            <a:lvl5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5pPr>
            <a:lvl6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6pPr>
            <a:lvl7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7pPr>
            <a:lvl8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8pPr>
            <a:lvl9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39594e5204219"/>
    <p:sldLayoutId xmlns:r="http://schemas.openxmlformats.org/officeDocument/2006/relationships" id="2147483650" r:id="R5968610cefbc402d"/>
    <p:sldLayoutId xmlns:r="http://schemas.openxmlformats.org/officeDocument/2006/relationships" id="2147483651" r:id="Rc2be8fbcf7ae4825"/>
    <p:sldLayoutId xmlns:r="http://schemas.openxmlformats.org/officeDocument/2006/relationships" id="2147483652" r:id="Ra195263669404639"/>
    <p:sldLayoutId xmlns:r="http://schemas.openxmlformats.org/officeDocument/2006/relationships" id="2147483653" r:id="R514bab75333d4cab"/>
    <p:sldLayoutId xmlns:r="http://schemas.openxmlformats.org/officeDocument/2006/relationships" id="2147483654" r:id="Rbad0c381114946db"/>
    <p:sldLayoutId xmlns:r="http://schemas.openxmlformats.org/officeDocument/2006/relationships" id="2147483655" r:id="R41d88047518c4f88"/>
    <p:sldLayoutId xmlns:r="http://schemas.openxmlformats.org/officeDocument/2006/relationships" id="2147483656" r:id="R1526cc23c5874ec2"/>
    <p:sldLayoutId xmlns:r="http://schemas.openxmlformats.org/officeDocument/2006/relationships" id="2147483657" r:id="R0c6f6abcbfb74461"/>
    <p:sldLayoutId xmlns:r="http://schemas.openxmlformats.org/officeDocument/2006/relationships" id="2147483658" r:id="R94523986aa524e76"/>
    <p:sldLayoutId xmlns:r="http://schemas.openxmlformats.org/officeDocument/2006/relationships" id="2147483659" r:id="R0b7e53d39c564cb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c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c9d17931348d9" /><Relationship Type="http://schemas.openxmlformats.org/officeDocument/2006/relationships/notesSlide" Target="/ppt/notesSlides/notesSlide1.xml" Id="R302728131a3347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32e74f633e4f3e" /><Relationship Type="http://schemas.openxmlformats.org/officeDocument/2006/relationships/notesSlide" Target="/ppt/notesSlides/notesSlide2.xml" Id="Ra38af1a199914c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adfae6c97c4448" /><Relationship Type="http://schemas.openxmlformats.org/officeDocument/2006/relationships/notesSlide" Target="/ppt/notesSlides/notesSlide3.xml" Id="R7518b348627844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5f5c1a9985439b" /><Relationship Type="http://schemas.openxmlformats.org/officeDocument/2006/relationships/notesSlide" Target="/ppt/notesSlides/notesSlide4.xml" Id="R2e120452c2c541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092922f417479f" /><Relationship Type="http://schemas.openxmlformats.org/officeDocument/2006/relationships/notesSlide" Target="/ppt/notesSlides/notesSlide5.xml" Id="R8e55500959ba46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3a528ee20c477b" /><Relationship Type="http://schemas.openxmlformats.org/officeDocument/2006/relationships/notesSlide" Target="/ppt/notesSlides/notesSlide6.xml" Id="R3542951d9c2845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909c0407eba458e" /><Relationship Type="http://schemas.openxmlformats.org/officeDocument/2006/relationships/notesSlide" Target="/ppt/notesSlides/notesSlide7.xml" Id="Rdf9d1130039040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d1d674acc24967" /><Relationship Type="http://schemas.openxmlformats.org/officeDocument/2006/relationships/notesSlide" Target="/ppt/notesSlides/notesSlide8.xml" Id="R29f20b87732c42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13">
            <a:extLst xmlns:a="http://schemas.openxmlformats.org/drawingml/2006/main">
              <a:ext uri="{FF2B5EF4-FFF2-40B4-BE49-F238E27FC236}">
                <a16:creationId xmlns:a16="http://schemas.microsoft.com/office/drawing/2014/main" id="{CE7A55BD-FA21-414C-A0CE-F924BC3C96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08750" y="487100"/>
            <a:ext cx="5017500" cy="157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Fashion Trend Intelligence</a:t>
            </a:r>
            <a:endParaRPr/>
          </a:p>
        </p:txBody>
      </p:sp>
      <p:sp>
        <p:nv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4B13FB2C-9A97-4A47-8173-0ADA0DA816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44412" y="3891058"/>
            <a:ext cx="2667000" cy="506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ModeTrends · 20 octobre 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49118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14">
            <a:extLst xmlns:a="http://schemas.openxmlformats.org/drawingml/2006/main">
              <a:ext uri="{FF2B5EF4-FFF2-40B4-BE49-F238E27FC236}">
                <a16:creationId xmlns:a16="http://schemas.microsoft.com/office/drawing/2014/main" id="{45EC9DF1-78E0-48EF-9565-7BE3E2BC1A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Présentation du projet</a:t>
            </a:r>
            <a:endParaRPr/>
          </a:p>
        </p:txBody>
      </p:sp>
      <p:sp>
        <p:nvSpPr>
          <p:cNvPr id="141" name="Google Shape;141;p14">
            <a:extLst xmlns:a="http://schemas.openxmlformats.org/drawingml/2006/main">
              <a:ext uri="{FF2B5EF4-FFF2-40B4-BE49-F238E27FC236}">
                <a16:creationId xmlns:a16="http://schemas.microsoft.com/office/drawing/2014/main" id="{A3665BC9-7C08-4AA8-AC95-D31970EFD8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567550"/>
            <a:ext cx="70389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4720"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</a:defRPr>
            </a:defPPr>
            <a:lvl1pPr algn="l">
              <a:defRPr sz="1650">
                <a:solidFill>
                  <a:srgbClr val="FFFFFF"/>
                </a:solidFill>
              </a:defRPr>
            </a:lvl1pPr>
            <a:lvl2pPr algn="l">
              <a:defRPr sz="1650">
                <a:solidFill>
                  <a:srgbClr val="FFFFFF"/>
                </a:solidFill>
              </a:defRPr>
            </a:lvl2pPr>
            <a:lvl3pPr algn="l">
              <a:defRPr sz="1650">
                <a:solidFill>
                  <a:srgbClr val="FFFFFF"/>
                </a:solidFill>
              </a:defRPr>
            </a:lvl3pPr>
            <a:lvl4pPr algn="l">
              <a:defRPr sz="1650">
                <a:solidFill>
                  <a:srgbClr val="FFFFFF"/>
                </a:solidFill>
              </a:defRPr>
            </a:lvl4pPr>
            <a:lvl5pPr algn="l">
              <a:defRPr sz="1650">
                <a:solidFill>
                  <a:srgbClr val="FFFFFF"/>
                </a:solidFill>
              </a:defRPr>
            </a:lvl5pPr>
            <a:lvl6pPr algn="l">
              <a:defRPr sz="1650">
                <a:solidFill>
                  <a:srgbClr val="FFFFFF"/>
                </a:solidFill>
              </a:defRPr>
            </a:lvl6pPr>
            <a:lvl7pPr algn="l">
              <a:defRPr sz="1650">
                <a:solidFill>
                  <a:srgbClr val="FFFFFF"/>
                </a:solidFill>
              </a:defRPr>
            </a:lvl7pPr>
            <a:lvl8pPr algn="l">
              <a:defRPr sz="1650">
                <a:solidFill>
                  <a:srgbClr val="FFFFFF"/>
                </a:solidFill>
              </a:defRPr>
            </a:lvl8pPr>
            <a:lvl9pPr algn="l">
              <a:defRPr sz="16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Objectif : isoler les vêtements dans les images pour préparer l’analyse des tendances.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Périmètre : 50 photos annotées, 18 classes et un modèle préentraîné, sans réentraînement.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Livrables : script Python commenté, notebook, métriques, galerie et estimation de coût.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65360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Google Shape;146;p15">
            <a:extLst xmlns:a="http://schemas.openxmlformats.org/drawingml/2006/main">
              <a:ext uri="{FF2B5EF4-FFF2-40B4-BE49-F238E27FC236}">
                <a16:creationId xmlns:a16="http://schemas.microsoft.com/office/drawing/2014/main" id="{154EC031-6753-457B-BB15-D94C3F9132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Fonctionnement de SegFormer</a:t>
            </a:r>
            <a:endParaRPr/>
          </a:p>
        </p:txBody>
      </p:sp>
      <p:sp>
        <p:nvSpPr>
          <p:cNvPr id="147" name="Google Shape;147;p15">
            <a:extLst xmlns:a="http://schemas.openxmlformats.org/drawingml/2006/main">
              <a:ext uri="{FF2B5EF4-FFF2-40B4-BE49-F238E27FC236}">
                <a16:creationId xmlns:a16="http://schemas.microsoft.com/office/drawing/2014/main" id="{5356C515-E395-4164-B41A-C8CECBFC1D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567550"/>
            <a:ext cx="70389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7140"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</a:defRPr>
            </a:defPPr>
            <a:lvl1pPr algn="l">
              <a:defRPr sz="1650">
                <a:solidFill>
                  <a:srgbClr val="FFFFFF"/>
                </a:solidFill>
              </a:defRPr>
            </a:lvl1pPr>
            <a:lvl2pPr algn="l">
              <a:defRPr sz="1650">
                <a:solidFill>
                  <a:srgbClr val="FFFFFF"/>
                </a:solidFill>
              </a:defRPr>
            </a:lvl2pPr>
            <a:lvl3pPr algn="l">
              <a:defRPr sz="1650">
                <a:solidFill>
                  <a:srgbClr val="FFFFFF"/>
                </a:solidFill>
              </a:defRPr>
            </a:lvl3pPr>
            <a:lvl4pPr algn="l">
              <a:defRPr sz="1650">
                <a:solidFill>
                  <a:srgbClr val="FFFFFF"/>
                </a:solidFill>
              </a:defRPr>
            </a:lvl4pPr>
            <a:lvl5pPr algn="l">
              <a:defRPr sz="1650">
                <a:solidFill>
                  <a:srgbClr val="FFFFFF"/>
                </a:solidFill>
              </a:defRPr>
            </a:lvl5pPr>
            <a:lvl6pPr algn="l">
              <a:defRPr sz="1650">
                <a:solidFill>
                  <a:srgbClr val="FFFFFF"/>
                </a:solidFill>
              </a:defRPr>
            </a:lvl6pPr>
            <a:lvl7pPr algn="l">
              <a:defRPr sz="1650">
                <a:solidFill>
                  <a:srgbClr val="FFFFFF"/>
                </a:solidFill>
              </a:defRPr>
            </a:lvl7pPr>
            <a:lvl8pPr algn="l">
              <a:defRPr sz="1650">
                <a:solidFill>
                  <a:srgbClr val="FFFFFF"/>
                </a:solidFill>
              </a:defRPr>
            </a:lvl8pPr>
            <a:lvl9pPr algn="l">
              <a:defRPr sz="16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Une image RGB est envoyée à HF Inference avec un token conservé dans .env.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Le modèle attribue une classe à chaque pixel. Les masques reçus sont décodés, puis remis à la taille originale.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La comparaison porte sur les annotations réelles. Les couleurs restent identiques pour toutes les images.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54550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16">
            <a:extLst xmlns:a="http://schemas.openxmlformats.org/drawingml/2006/main">
              <a:ext uri="{FF2B5EF4-FFF2-40B4-BE49-F238E27FC236}">
                <a16:creationId xmlns:a16="http://schemas.microsoft.com/office/drawing/2014/main" id="{B34BBA64-809C-48A7-B385-0AF9C036C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Performances : mesure encore bloquée</a:t>
            </a:r>
            <a:endParaRPr/>
          </a:p>
        </p:txBody>
      </p:sp>
      <p:sp>
        <p:nvSpPr>
          <p:cNvPr id="153" name="Google Shape;153;p16">
            <a:extLst xmlns:a="http://schemas.openxmlformats.org/drawingml/2006/main">
              <a:ext uri="{FF2B5EF4-FFF2-40B4-BE49-F238E27FC236}">
                <a16:creationId xmlns:a16="http://schemas.microsoft.com/office/drawing/2014/main" id="{831A859D-AE5B-4C04-94F1-6DA09A374D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567550"/>
            <a:ext cx="70389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71822"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</a:defRPr>
            </a:defPPr>
            <a:lvl1pPr algn="l">
              <a:defRPr sz="1650">
                <a:solidFill>
                  <a:srgbClr val="FFFFFF"/>
                </a:solidFill>
              </a:defRPr>
            </a:lvl1pPr>
            <a:lvl2pPr algn="l">
              <a:defRPr sz="1650">
                <a:solidFill>
                  <a:srgbClr val="FFFFFF"/>
                </a:solidFill>
              </a:defRPr>
            </a:lvl2pPr>
            <a:lvl3pPr algn="l">
              <a:defRPr sz="1650">
                <a:solidFill>
                  <a:srgbClr val="FFFFFF"/>
                </a:solidFill>
              </a:defRPr>
            </a:lvl3pPr>
            <a:lvl4pPr algn="l">
              <a:defRPr sz="1650">
                <a:solidFill>
                  <a:srgbClr val="FFFFFF"/>
                </a:solidFill>
              </a:defRPr>
            </a:lvl4pPr>
            <a:lvl5pPr algn="l">
              <a:defRPr sz="1650">
                <a:solidFill>
                  <a:srgbClr val="FFFFFF"/>
                </a:solidFill>
              </a:defRPr>
            </a:lvl5pPr>
            <a:lvl6pPr algn="l">
              <a:defRPr sz="1650">
                <a:solidFill>
                  <a:srgbClr val="FFFFFF"/>
                </a:solidFill>
              </a:defRPr>
            </a:lvl6pPr>
            <a:lvl7pPr algn="l">
              <a:defRPr sz="1650">
                <a:solidFill>
                  <a:srgbClr val="FFFFFF"/>
                </a:solidFill>
              </a:defRPr>
            </a:lvl7pPr>
            <a:lvl8pPr algn="l">
              <a:defRPr sz="1650">
                <a:solidFill>
                  <a:srgbClr val="FFFFFF"/>
                </a:solidFill>
              </a:defRPr>
            </a:lvl8pPr>
            <a:lvl9pPr algn="l">
              <a:defRPr sz="16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50 paires image / annotation vérifiées.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Le token est reconnu, mais le premier appel retourne HTTP 402 : crédits insuffisants.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0 prédiction produite. IoU et Dice non mesurés.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23 tests logiciels passent. Ils ne mesurent pas la qualité du modèle. Les appels payants sont arrêtés à la demande de l’utilisateur.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32000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17">
            <a:extLst xmlns:a="http://schemas.openxmlformats.org/drawingml/2006/main">
              <a:ext uri="{FF2B5EF4-FFF2-40B4-BE49-F238E27FC236}">
                <a16:creationId xmlns:a16="http://schemas.microsoft.com/office/drawing/2014/main" id="{5C796E85-CEF1-47B0-9C89-50544D7BC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Méthode de validation</a:t>
            </a:r>
            <a:endParaRPr/>
          </a:p>
        </p:txBody>
      </p:sp>
      <p:sp>
        <p:nvSpPr>
          <p:cNvPr id="159" name="Google Shape;159;p17">
            <a:extLst xmlns:a="http://schemas.openxmlformats.org/drawingml/2006/main">
              <a:ext uri="{FF2B5EF4-FFF2-40B4-BE49-F238E27FC236}">
                <a16:creationId xmlns:a16="http://schemas.microsoft.com/office/drawing/2014/main" id="{15248712-B342-4387-A0E5-209B64D9B8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567550"/>
            <a:ext cx="70389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82082"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</a:defRPr>
            </a:defPPr>
            <a:lvl1pPr algn="l">
              <a:defRPr sz="1650">
                <a:solidFill>
                  <a:srgbClr val="FFFFFF"/>
                </a:solidFill>
              </a:defRPr>
            </a:lvl1pPr>
            <a:lvl2pPr algn="l">
              <a:defRPr sz="1650">
                <a:solidFill>
                  <a:srgbClr val="FFFFFF"/>
                </a:solidFill>
              </a:defRPr>
            </a:lvl2pPr>
            <a:lvl3pPr algn="l">
              <a:defRPr sz="1650">
                <a:solidFill>
                  <a:srgbClr val="FFFFFF"/>
                </a:solidFill>
              </a:defRPr>
            </a:lvl3pPr>
            <a:lvl4pPr algn="l">
              <a:defRPr sz="1650">
                <a:solidFill>
                  <a:srgbClr val="FFFFFF"/>
                </a:solidFill>
              </a:defRPr>
            </a:lvl4pPr>
            <a:lvl5pPr algn="l">
              <a:defRPr sz="1650">
                <a:solidFill>
                  <a:srgbClr val="FFFFFF"/>
                </a:solidFill>
              </a:defRPr>
            </a:lvl5pPr>
            <a:lvl6pPr algn="l">
              <a:defRPr sz="1650">
                <a:solidFill>
                  <a:srgbClr val="FFFFFF"/>
                </a:solidFill>
              </a:defRPr>
            </a:lvl6pPr>
            <a:lvl7pPr algn="l">
              <a:defRPr sz="1650">
                <a:solidFill>
                  <a:srgbClr val="FFFFFF"/>
                </a:solidFill>
              </a:defRPr>
            </a:lvl7pPr>
            <a:lvl8pPr algn="l">
              <a:defRPr sz="1650">
                <a:solidFill>
                  <a:srgbClr val="FFFFFF"/>
                </a:solidFill>
              </a:defRPr>
            </a:lvl8pPr>
            <a:lvl9pPr algn="l">
              <a:defRPr sz="16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Répartition fixée à l’avance : 30 images train, 10 validation, 10 test, avec une graine de 42.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Aucun réentraînement ici. Réserver la validation aux réglages et le test à l’évaluation finale.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Mesures : mIoU, Dice et mIoU vêtements/accessoires.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Limite : ATR a aussi servi à entraîner le modèle. Prévoir un test indépendant, séparé par personne.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03534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18">
            <a:extLst xmlns:a="http://schemas.openxmlformats.org/drawingml/2006/main">
              <a:ext uri="{FF2B5EF4-FFF2-40B4-BE49-F238E27FC236}">
                <a16:creationId xmlns:a16="http://schemas.microsoft.com/office/drawing/2014/main" id="{05F58DE3-58C6-40F0-9CF4-3C31B7C595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Passage à l’échelle et coût d’utilisation</a:t>
            </a:r>
            <a:endParaRPr/>
          </a:p>
        </p:txBody>
      </p:sp>
      <p:sp>
        <p:nvSpPr>
          <p:cNvPr id="165" name="Google Shape;165;p18">
            <a:extLst xmlns:a="http://schemas.openxmlformats.org/drawingml/2006/main">
              <a:ext uri="{FF2B5EF4-FFF2-40B4-BE49-F238E27FC236}">
                <a16:creationId xmlns:a16="http://schemas.microsoft.com/office/drawing/2014/main" id="{56EA18EE-D3DA-4596-BE18-02C18DABD4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496" y="1567529"/>
            <a:ext cx="703888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55671"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</a:defRPr>
            </a:defPPr>
            <a:lvl1pPr algn="l">
              <a:defRPr sz="1650">
                <a:solidFill>
                  <a:srgbClr val="FFFFFF"/>
                </a:solidFill>
              </a:defRPr>
            </a:lvl1pPr>
            <a:lvl2pPr algn="l">
              <a:defRPr sz="1650">
                <a:solidFill>
                  <a:srgbClr val="FFFFFF"/>
                </a:solidFill>
              </a:defRPr>
            </a:lvl2pPr>
            <a:lvl3pPr algn="l">
              <a:defRPr sz="1650">
                <a:solidFill>
                  <a:srgbClr val="FFFFFF"/>
                </a:solidFill>
              </a:defRPr>
            </a:lvl3pPr>
            <a:lvl4pPr algn="l">
              <a:defRPr sz="1650">
                <a:solidFill>
                  <a:srgbClr val="FFFFFF"/>
                </a:solidFill>
              </a:defRPr>
            </a:lvl4pPr>
            <a:lvl5pPr algn="l">
              <a:defRPr sz="1650">
                <a:solidFill>
                  <a:srgbClr val="FFFFFF"/>
                </a:solidFill>
              </a:defRPr>
            </a:lvl5pPr>
            <a:lvl6pPr algn="l">
              <a:defRPr sz="1650">
                <a:solidFill>
                  <a:srgbClr val="FFFFFF"/>
                </a:solidFill>
              </a:defRPr>
            </a:lvl6pPr>
            <a:lvl7pPr algn="l">
              <a:defRPr sz="1650">
                <a:solidFill>
                  <a:srgbClr val="FFFFFF"/>
                </a:solidFill>
              </a:defRPr>
            </a:lvl7pPr>
            <a:lvl8pPr algn="l">
              <a:defRPr sz="1650">
                <a:solidFill>
                  <a:srgbClr val="FFFFFF"/>
                </a:solidFill>
              </a:defRPr>
            </a:lvl8pPr>
            <a:lvl9pPr algn="l">
              <a:defRPr sz="16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500 000 images / 30 jours : environ 16 667 images par jour.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Tarif supposé : 0,50 USD/h, avec 5 % de tentatives supplémentaires.</a:t>
            </a:r>
            <a:endParaRPr/>
          </a:p>
        </p:txBody>
      </p:sp>
      <p:graphicFrame>
        <p:nvGraphicFrame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78CA256-5FE1-40DC-B162-C84CAB1E6C2E}"/>
              </a:ext>
            </a:extLst>
          </p:cNvPr>
          <p:cNvGraphicFramePr/>
          <p:nvPr/>
        </p:nvGraphicFramePr>
        <p:xfrm>
          <a:off xmlns:a="http://schemas.openxmlformats.org/drawingml/2006/main" x="1381125" y="2619375"/>
          <a:ext xmlns:a="http://schemas.openxmlformats.org/drawingml/2006/main" cx="685800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333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Calcul supposé par image</a:t>
                      </a:r>
                    </a:p>
                  </a:txBody>
                  <a:tcPr marL="91440" marR="91440" marT="45720" marB="45720">
                    <a:solidFill>
                      <a:srgbClr val="104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Coût estimé (USD)</a:t>
                      </a:r>
                    </a:p>
                  </a:txBody>
                  <a:tcPr marL="91440" marR="91440" marT="45720" marB="45720">
                    <a:solidFill>
                      <a:srgbClr val="104FA6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0,5 seconde</a:t>
                      </a:r>
                    </a:p>
                  </a:txBody>
                  <a:tcPr marL="91440" marR="91440" marT="45720" marB="45720">
                    <a:solidFill>
                      <a:srgbClr val="2632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36,46</a:t>
                      </a:r>
                    </a:p>
                  </a:txBody>
                  <a:tcPr marL="91440" marR="91440" marT="45720" marB="45720">
                    <a:solidFill>
                      <a:srgbClr val="263242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2 secondes</a:t>
                      </a:r>
                    </a:p>
                  </a:txBody>
                  <a:tcPr marL="91440" marR="91440" marT="45720" marB="45720">
                    <a:solidFill>
                      <a:srgbClr val="2632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145,83</a:t>
                      </a:r>
                    </a:p>
                  </a:txBody>
                  <a:tcPr marL="91440" marR="91440" marT="45720" marB="45720">
                    <a:solidFill>
                      <a:srgbClr val="263242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5 secondes</a:t>
                      </a:r>
                    </a:p>
                  </a:txBody>
                  <a:tcPr marL="91440" marR="91440" marT="45720" marB="45720">
                    <a:solidFill>
                      <a:srgbClr val="2632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364,58</a:t>
                      </a:r>
                    </a:p>
                  </a:txBody>
                  <a:tcPr marL="91440" marR="91440" marT="45720" marB="45720">
                    <a:solidFill>
                      <a:srgbClr val="263242"/>
                    </a:solidFill>
                  </a:tcPr>
                </a:tc>
              </a:tr>
            </a:tbl>
          </a:graphicData>
        </a:graphic>
      </p:graphicFrame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32D42BD-7C67-48A9-B85B-CB33FC70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FFFFF"/>
                </a:solidFill>
              </a:defRPr>
            </a:defPPr>
            <a:lvl1pPr>
              <a:defRPr sz="1275">
                <a:solidFill>
                  <a:srgbClr val="FFFFFF"/>
                </a:solidFill>
              </a:defRPr>
            </a:lvl1pPr>
            <a:lvl2pPr>
              <a:defRPr sz="1275">
                <a:solidFill>
                  <a:srgbClr val="FFFFFF"/>
                </a:solidFill>
              </a:defRPr>
            </a:lvl2pPr>
            <a:lvl3pPr>
              <a:defRPr sz="1275">
                <a:solidFill>
                  <a:srgbClr val="FFFFFF"/>
                </a:solidFill>
              </a:defRPr>
            </a:lvl3pPr>
            <a:lvl4pPr>
              <a:defRPr sz="1275">
                <a:solidFill>
                  <a:srgbClr val="FFFFFF"/>
                </a:solidFill>
              </a:defRPr>
            </a:lvl4pPr>
            <a:lvl5pPr>
              <a:defRPr sz="1275">
                <a:solidFill>
                  <a:srgbClr val="FFFFFF"/>
                </a:solidFill>
              </a:defRPr>
            </a:lvl5pPr>
            <a:lvl6pPr>
              <a:defRPr sz="1275">
                <a:solidFill>
                  <a:srgbClr val="FFFFFF"/>
                </a:solidFill>
              </a:defRPr>
            </a:lvl6pPr>
            <a:lvl7pPr>
              <a:defRPr sz="1275">
                <a:solidFill>
                  <a:srgbClr val="FFFFFF"/>
                </a:solidFill>
              </a:defRPr>
            </a:lvl7pPr>
            <a:lvl8pPr>
              <a:defRPr sz="1275">
                <a:solidFill>
                  <a:srgbClr val="FFFFFF"/>
                </a:solidFill>
              </a:defRPr>
            </a:lvl8pPr>
            <a:lvl9pPr>
              <a:defRPr sz="12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Scénarios hypothétiques, hors taxes, stockage et crédits.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À recalibrer sur la facture réelle. La latence HTTP ne donne pas le temps facturé.</a:t>
            </a:r>
          </a:p>
        </p:txBody>
      </p:sp>
    </p:spTree>
    <p:extLst>
      <p:ext uri="{BB962C8B-B14F-4D97-AF65-F5344CB8AC3E}">
        <p14:creationId xmlns:p14="http://schemas.microsoft.com/office/powerpoint/2010/main" val="14650993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19">
            <a:extLst xmlns:a="http://schemas.openxmlformats.org/drawingml/2006/main">
              <a:ext uri="{FF2B5EF4-FFF2-40B4-BE49-F238E27FC236}">
                <a16:creationId xmlns:a16="http://schemas.microsoft.com/office/drawing/2014/main" id="{9C155BDB-7253-4646-8158-B6AB7AB45A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Données et précautions d’usage</a:t>
            </a:r>
            <a:endParaRPr/>
          </a:p>
        </p:txBody>
      </p:sp>
      <p:sp>
        <p:nvSpPr>
          <p:cNvPr id="171" name="Google Shape;171;p19">
            <a:extLst xmlns:a="http://schemas.openxmlformats.org/drawingml/2006/main">
              <a:ext uri="{FF2B5EF4-FFF2-40B4-BE49-F238E27FC236}">
                <a16:creationId xmlns:a16="http://schemas.microsoft.com/office/drawing/2014/main" id="{58017219-49D0-4B0B-84A9-C8E3F40D23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567550"/>
            <a:ext cx="70389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71822"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</a:defRPr>
            </a:defPPr>
            <a:lvl1pPr algn="l">
              <a:defRPr sz="1650">
                <a:solidFill>
                  <a:srgbClr val="FFFFFF"/>
                </a:solidFill>
              </a:defRPr>
            </a:lvl1pPr>
            <a:lvl2pPr algn="l">
              <a:defRPr sz="1650">
                <a:solidFill>
                  <a:srgbClr val="FFFFFF"/>
                </a:solidFill>
              </a:defRPr>
            </a:lvl2pPr>
            <a:lvl3pPr algn="l">
              <a:defRPr sz="1650">
                <a:solidFill>
                  <a:srgbClr val="FFFFFF"/>
                </a:solidFill>
              </a:defRPr>
            </a:lvl3pPr>
            <a:lvl4pPr algn="l">
              <a:defRPr sz="1650">
                <a:solidFill>
                  <a:srgbClr val="FFFFFF"/>
                </a:solidFill>
              </a:defRPr>
            </a:lvl4pPr>
            <a:lvl5pPr algn="l">
              <a:defRPr sz="1650">
                <a:solidFill>
                  <a:srgbClr val="FFFFFF"/>
                </a:solidFill>
              </a:defRPr>
            </a:lvl5pPr>
            <a:lvl6pPr algn="l">
              <a:defRPr sz="1650">
                <a:solidFill>
                  <a:srgbClr val="FFFFFF"/>
                </a:solidFill>
              </a:defRPr>
            </a:lvl6pPr>
            <a:lvl7pPr algn="l">
              <a:defRPr sz="1650">
                <a:solidFill>
                  <a:srgbClr val="FFFFFF"/>
                </a:solidFill>
              </a:defRPr>
            </a:lvl7pPr>
            <a:lvl8pPr algn="l">
              <a:defRPr sz="1650">
                <a:solidFill>
                  <a:srgbClr val="FFFFFF"/>
                </a:solidFill>
              </a:defRPr>
            </a:lvl8pPr>
            <a:lvl9pPr algn="l">
              <a:defRPr sz="16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Les images et leurs annotations proviennent du jeu pédagogique fourni.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Le token est exclu de Git et de l’archive à partager.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Avant un déploiement réel : vérifier les droits d’usage des images, les conditions de traitement et la durée de conservation.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L’analyse réglementaire optionnelle reste à réaliser pour le contexte de production.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53733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0">
            <a:extLst xmlns:a="http://schemas.openxmlformats.org/drawingml/2006/main">
              <a:ext uri="{FF2B5EF4-FFF2-40B4-BE49-F238E27FC236}">
                <a16:creationId xmlns:a16="http://schemas.microsoft.com/office/drawing/2014/main" id="{A7D855E7-29AA-48CB-B084-E7C88F6734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Bilan du projet</a:t>
            </a:r>
            <a:endParaRPr/>
          </a:p>
        </p:txBody>
      </p:sp>
      <p:sp>
        <p:nvSpPr>
          <p:cNvPr id="177" name="Google Shape;177;p20">
            <a:extLst xmlns:a="http://schemas.openxmlformats.org/drawingml/2006/main">
              <a:ext uri="{FF2B5EF4-FFF2-40B4-BE49-F238E27FC236}">
                <a16:creationId xmlns:a16="http://schemas.microsoft.com/office/drawing/2014/main" id="{39DB31BA-8C27-4211-A308-1986987588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567550"/>
            <a:ext cx="70389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585"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</a:defRPr>
            </a:defPPr>
            <a:lvl1pPr algn="l">
              <a:defRPr sz="1650">
                <a:solidFill>
                  <a:srgbClr val="FFFFFF"/>
                </a:solidFill>
              </a:defRPr>
            </a:lvl1pPr>
            <a:lvl2pPr algn="l">
              <a:defRPr sz="1650">
                <a:solidFill>
                  <a:srgbClr val="FFFFFF"/>
                </a:solidFill>
              </a:defRPr>
            </a:lvl2pPr>
            <a:lvl3pPr algn="l">
              <a:defRPr sz="1650">
                <a:solidFill>
                  <a:srgbClr val="FFFFFF"/>
                </a:solidFill>
              </a:defRPr>
            </a:lvl3pPr>
            <a:lvl4pPr algn="l">
              <a:defRPr sz="1650">
                <a:solidFill>
                  <a:srgbClr val="FFFFFF"/>
                </a:solidFill>
              </a:defRPr>
            </a:lvl4pPr>
            <a:lvl5pPr algn="l">
              <a:defRPr sz="1650">
                <a:solidFill>
                  <a:srgbClr val="FFFFFF"/>
                </a:solidFill>
              </a:defRPr>
            </a:lvl5pPr>
            <a:lvl6pPr algn="l">
              <a:defRPr sz="1650">
                <a:solidFill>
                  <a:srgbClr val="FFFFFF"/>
                </a:solidFill>
              </a:defRPr>
            </a:lvl6pPr>
            <a:lvl7pPr algn="l">
              <a:defRPr sz="1650">
                <a:solidFill>
                  <a:srgbClr val="FFFFFF"/>
                </a:solidFill>
              </a:defRPr>
            </a:lvl7pPr>
            <a:lvl8pPr algn="l">
              <a:defRPr sz="1650">
                <a:solidFill>
                  <a:srgbClr val="FFFFFF"/>
                </a:solidFill>
              </a:defRPr>
            </a:lvl8pPr>
            <a:lvl9pPr algn="l">
              <a:defRPr sz="16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Réalisé : intégration API, gestion des erreurs, cache de reprise, métriques et visualisations automatiques.</a:t>
            </a:r>
            <a:endParaRPr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À terminer après ajout de crédits : exécuter les 50 images, examiner les erreurs et compléter le bilan mesuré.</a:t>
            </a:r>
            <a:endParaRPr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Suite : valider sur de nouvelles photos, puis tester la capacité et le coût réel avant la montée en charge.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5143838"/>
      </p:ext>
    </p:extLst>
  </p:cSld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c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2026-10-20T06:16:52.7690000Z</dcterms:created>
  <dcterms:modified xsi:type="dcterms:W3CDTF">2026-10-20T06:16:52.7690000Z</dcterms:modified>
</coreProperties>
</file>